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8" r:id="rId8"/>
    <p:sldId id="269" r:id="rId9"/>
    <p:sldId id="270" r:id="rId10"/>
    <p:sldId id="271" r:id="rId11"/>
    <p:sldId id="272" r:id="rId12"/>
    <p:sldId id="260" r:id="rId13"/>
    <p:sldId id="261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9BE13A-D34D-46A7-910B-B32F3E62C0E5}" v="3" dt="2025-07-25T01:19:48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4660"/>
  </p:normalViewPr>
  <p:slideViewPr>
    <p:cSldViewPr snapToGrid="0">
      <p:cViewPr>
        <p:scale>
          <a:sx n="100" d="100"/>
          <a:sy n="100" d="100"/>
        </p:scale>
        <p:origin x="427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9DAD6E-D97E-478D-B9CF-8833861E1A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51655E-02BE-4E4B-9D36-A49D7FF13C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Dataset: Airbnb Amsterdam from Kaggle</a:t>
          </a:r>
        </a:p>
      </dgm:t>
    </dgm:pt>
    <dgm:pt modelId="{413A5C20-47DA-471F-9789-F800B5C7DD64}" type="parTrans" cxnId="{7433FD0B-7CC8-46EF-AA99-469371A91A18}">
      <dgm:prSet/>
      <dgm:spPr/>
      <dgm:t>
        <a:bodyPr/>
        <a:lstStyle/>
        <a:p>
          <a:endParaRPr lang="en-US"/>
        </a:p>
      </dgm:t>
    </dgm:pt>
    <dgm:pt modelId="{8C0493E2-7510-4035-87AC-8268CD409658}" type="sibTrans" cxnId="{7433FD0B-7CC8-46EF-AA99-469371A91A18}">
      <dgm:prSet/>
      <dgm:spPr/>
      <dgm:t>
        <a:bodyPr/>
        <a:lstStyle/>
        <a:p>
          <a:endParaRPr lang="en-US"/>
        </a:p>
      </dgm:t>
    </dgm:pt>
    <dgm:pt modelId="{89190411-7C00-4755-94E5-8420863E45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6,173 rows of listings Features: price, location, amenities, reviews, availability, etc.</a:t>
          </a:r>
        </a:p>
      </dgm:t>
    </dgm:pt>
    <dgm:pt modelId="{4DE74430-0C6E-4624-AC8D-002B72522D00}" type="parTrans" cxnId="{DB7A42C9-4CC1-49CB-8B03-596CDF2E1675}">
      <dgm:prSet/>
      <dgm:spPr/>
      <dgm:t>
        <a:bodyPr/>
        <a:lstStyle/>
        <a:p>
          <a:endParaRPr lang="en-US"/>
        </a:p>
      </dgm:t>
    </dgm:pt>
    <dgm:pt modelId="{042A7E4C-99E4-49F3-896C-5F4B4F7FFD25}" type="sibTrans" cxnId="{DB7A42C9-4CC1-49CB-8B03-596CDF2E1675}">
      <dgm:prSet/>
      <dgm:spPr/>
      <dgm:t>
        <a:bodyPr/>
        <a:lstStyle/>
        <a:p>
          <a:endParaRPr lang="en-US"/>
        </a:p>
      </dgm:t>
    </dgm:pt>
    <dgm:pt modelId="{20061C17-64A6-4129-A826-F266BF10F2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Tools Used:</a:t>
          </a:r>
        </a:p>
      </dgm:t>
    </dgm:pt>
    <dgm:pt modelId="{6AB861CE-DF46-45D8-B0FB-22475060AA06}" type="parTrans" cxnId="{D64EF5CA-F193-4E9B-ACFB-82BA7C9707BB}">
      <dgm:prSet/>
      <dgm:spPr/>
      <dgm:t>
        <a:bodyPr/>
        <a:lstStyle/>
        <a:p>
          <a:endParaRPr lang="en-US"/>
        </a:p>
      </dgm:t>
    </dgm:pt>
    <dgm:pt modelId="{D2687E90-6100-4C61-ADF0-073B79D39BC7}" type="sibTrans" cxnId="{D64EF5CA-F193-4E9B-ACFB-82BA7C9707BB}">
      <dgm:prSet/>
      <dgm:spPr/>
      <dgm:t>
        <a:bodyPr/>
        <a:lstStyle/>
        <a:p>
          <a:endParaRPr lang="en-US"/>
        </a:p>
      </dgm:t>
    </dgm:pt>
    <dgm:pt modelId="{DACC95EB-E3C6-44ED-88A4-60AF276C85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→ for cleaning preprocessing</a:t>
          </a:r>
        </a:p>
      </dgm:t>
    </dgm:pt>
    <dgm:pt modelId="{9C40549E-B8AD-447E-8BF9-043B647D1709}" type="parTrans" cxnId="{09EACA5C-3924-44FE-AE57-ACE3867A9309}">
      <dgm:prSet/>
      <dgm:spPr/>
      <dgm:t>
        <a:bodyPr/>
        <a:lstStyle/>
        <a:p>
          <a:endParaRPr lang="en-US"/>
        </a:p>
      </dgm:t>
    </dgm:pt>
    <dgm:pt modelId="{19D0CE8B-8CAB-49FE-9D2F-15CD10F539CF}" type="sibTrans" cxnId="{09EACA5C-3924-44FE-AE57-ACE3867A9309}">
      <dgm:prSet/>
      <dgm:spPr/>
      <dgm:t>
        <a:bodyPr/>
        <a:lstStyle/>
        <a:p>
          <a:endParaRPr lang="en-US"/>
        </a:p>
      </dgm:t>
    </dgm:pt>
    <dgm:pt modelId="{F3F355CC-0CEC-4528-8F58-D64D85C6D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→ for data exploration </a:t>
          </a:r>
        </a:p>
      </dgm:t>
    </dgm:pt>
    <dgm:pt modelId="{7D07053D-25B5-4C48-89BC-2F876112B421}" type="parTrans" cxnId="{698BEE7E-F3FC-4126-A0CB-8C24202C7EEC}">
      <dgm:prSet/>
      <dgm:spPr/>
      <dgm:t>
        <a:bodyPr/>
        <a:lstStyle/>
        <a:p>
          <a:endParaRPr lang="en-US"/>
        </a:p>
      </dgm:t>
    </dgm:pt>
    <dgm:pt modelId="{95BD82D6-0525-47B9-A6E2-F66788E3BEBA}" type="sibTrans" cxnId="{698BEE7E-F3FC-4126-A0CB-8C24202C7EEC}">
      <dgm:prSet/>
      <dgm:spPr/>
      <dgm:t>
        <a:bodyPr/>
        <a:lstStyle/>
        <a:p>
          <a:endParaRPr lang="en-US"/>
        </a:p>
      </dgm:t>
    </dgm:pt>
    <dgm:pt modelId="{917B3C68-8B18-4F26-9C4B-965CB198A9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→ for dashboards</a:t>
          </a:r>
        </a:p>
      </dgm:t>
    </dgm:pt>
    <dgm:pt modelId="{88A4AB79-0A24-449D-A01E-C1E62A53CF2D}" type="parTrans" cxnId="{B31231D2-B1F9-4BD4-A07B-79C9AE413640}">
      <dgm:prSet/>
      <dgm:spPr/>
      <dgm:t>
        <a:bodyPr/>
        <a:lstStyle/>
        <a:p>
          <a:endParaRPr lang="en-US"/>
        </a:p>
      </dgm:t>
    </dgm:pt>
    <dgm:pt modelId="{74B6A3FF-3A33-4DDE-974F-EE2FCC0D2ED3}" type="sibTrans" cxnId="{B31231D2-B1F9-4BD4-A07B-79C9AE413640}">
      <dgm:prSet/>
      <dgm:spPr/>
      <dgm:t>
        <a:bodyPr/>
        <a:lstStyle/>
        <a:p>
          <a:endParaRPr lang="en-US"/>
        </a:p>
      </dgm:t>
    </dgm:pt>
    <dgm:pt modelId="{F013FC6A-2E72-4718-8349-64AD8E628D5A}" type="pres">
      <dgm:prSet presAssocID="{E89DAD6E-D97E-478D-B9CF-8833861E1ABD}" presName="linear" presStyleCnt="0">
        <dgm:presLayoutVars>
          <dgm:animLvl val="lvl"/>
          <dgm:resizeHandles val="exact"/>
        </dgm:presLayoutVars>
      </dgm:prSet>
      <dgm:spPr/>
    </dgm:pt>
    <dgm:pt modelId="{71C78AE7-52B1-4EA3-A477-1CF61F19E460}" type="pres">
      <dgm:prSet presAssocID="{2251655E-02BE-4E4B-9D36-A49D7FF13CD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DD73D05-21F3-4BF4-9E85-E3AAE266FA7D}" type="pres">
      <dgm:prSet presAssocID="{8C0493E2-7510-4035-87AC-8268CD409658}" presName="spacer" presStyleCnt="0"/>
      <dgm:spPr/>
    </dgm:pt>
    <dgm:pt modelId="{88018E95-0935-4D0C-9A15-F326535090FD}" type="pres">
      <dgm:prSet presAssocID="{89190411-7C00-4755-94E5-8420863E455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3CAFA79-8CF2-4394-9675-67825488DB86}" type="pres">
      <dgm:prSet presAssocID="{042A7E4C-99E4-49F3-896C-5F4B4F7FFD25}" presName="spacer" presStyleCnt="0"/>
      <dgm:spPr/>
    </dgm:pt>
    <dgm:pt modelId="{08E34E6D-7962-4AA1-BBD2-11E64983AC31}" type="pres">
      <dgm:prSet presAssocID="{20061C17-64A6-4129-A826-F266BF10F27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1414725-A595-43E5-AF71-A621A3E7A0C6}" type="pres">
      <dgm:prSet presAssocID="{D2687E90-6100-4C61-ADF0-073B79D39BC7}" presName="spacer" presStyleCnt="0"/>
      <dgm:spPr/>
    </dgm:pt>
    <dgm:pt modelId="{93037F9E-5F38-4E45-9A51-FAD24F019C55}" type="pres">
      <dgm:prSet presAssocID="{DACC95EB-E3C6-44ED-88A4-60AF276C854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DAFC9C5-17EC-4EA6-A0B6-265CF5C9B2B7}" type="pres">
      <dgm:prSet presAssocID="{19D0CE8B-8CAB-49FE-9D2F-15CD10F539CF}" presName="spacer" presStyleCnt="0"/>
      <dgm:spPr/>
    </dgm:pt>
    <dgm:pt modelId="{9336B632-A53E-4514-8479-046EB6024EF3}" type="pres">
      <dgm:prSet presAssocID="{F3F355CC-0CEC-4528-8F58-D64D85C6DCF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455CDD0-7890-4758-B5EB-2549AF70B8A5}" type="pres">
      <dgm:prSet presAssocID="{95BD82D6-0525-47B9-A6E2-F66788E3BEBA}" presName="spacer" presStyleCnt="0"/>
      <dgm:spPr/>
    </dgm:pt>
    <dgm:pt modelId="{2B13298B-530E-4511-8E29-2EC1FD6312BC}" type="pres">
      <dgm:prSet presAssocID="{917B3C68-8B18-4F26-9C4B-965CB198A9E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433FD0B-7CC8-46EF-AA99-469371A91A18}" srcId="{E89DAD6E-D97E-478D-B9CF-8833861E1ABD}" destId="{2251655E-02BE-4E4B-9D36-A49D7FF13CD1}" srcOrd="0" destOrd="0" parTransId="{413A5C20-47DA-471F-9789-F800B5C7DD64}" sibTransId="{8C0493E2-7510-4035-87AC-8268CD409658}"/>
    <dgm:cxn modelId="{CB50531D-1BBA-42E6-8663-A50B8B781229}" type="presOf" srcId="{2251655E-02BE-4E4B-9D36-A49D7FF13CD1}" destId="{71C78AE7-52B1-4EA3-A477-1CF61F19E460}" srcOrd="0" destOrd="0" presId="urn:microsoft.com/office/officeart/2005/8/layout/vList2"/>
    <dgm:cxn modelId="{09EACA5C-3924-44FE-AE57-ACE3867A9309}" srcId="{E89DAD6E-D97E-478D-B9CF-8833861E1ABD}" destId="{DACC95EB-E3C6-44ED-88A4-60AF276C8547}" srcOrd="3" destOrd="0" parTransId="{9C40549E-B8AD-447E-8BF9-043B647D1709}" sibTransId="{19D0CE8B-8CAB-49FE-9D2F-15CD10F539CF}"/>
    <dgm:cxn modelId="{C53F6F6E-3BAC-4BC8-BEDE-671C8DD1FE3C}" type="presOf" srcId="{20061C17-64A6-4129-A826-F266BF10F27F}" destId="{08E34E6D-7962-4AA1-BBD2-11E64983AC31}" srcOrd="0" destOrd="0" presId="urn:microsoft.com/office/officeart/2005/8/layout/vList2"/>
    <dgm:cxn modelId="{8C06BC4F-F06E-409B-81B1-04053561A171}" type="presOf" srcId="{DACC95EB-E3C6-44ED-88A4-60AF276C8547}" destId="{93037F9E-5F38-4E45-9A51-FAD24F019C55}" srcOrd="0" destOrd="0" presId="urn:microsoft.com/office/officeart/2005/8/layout/vList2"/>
    <dgm:cxn modelId="{698BEE7E-F3FC-4126-A0CB-8C24202C7EEC}" srcId="{E89DAD6E-D97E-478D-B9CF-8833861E1ABD}" destId="{F3F355CC-0CEC-4528-8F58-D64D85C6DCFE}" srcOrd="4" destOrd="0" parTransId="{7D07053D-25B5-4C48-89BC-2F876112B421}" sibTransId="{95BD82D6-0525-47B9-A6E2-F66788E3BEBA}"/>
    <dgm:cxn modelId="{DB7A42C9-4CC1-49CB-8B03-596CDF2E1675}" srcId="{E89DAD6E-D97E-478D-B9CF-8833861E1ABD}" destId="{89190411-7C00-4755-94E5-8420863E455E}" srcOrd="1" destOrd="0" parTransId="{4DE74430-0C6E-4624-AC8D-002B72522D00}" sibTransId="{042A7E4C-99E4-49F3-896C-5F4B4F7FFD25}"/>
    <dgm:cxn modelId="{D64EF5CA-F193-4E9B-ACFB-82BA7C9707BB}" srcId="{E89DAD6E-D97E-478D-B9CF-8833861E1ABD}" destId="{20061C17-64A6-4129-A826-F266BF10F27F}" srcOrd="2" destOrd="0" parTransId="{6AB861CE-DF46-45D8-B0FB-22475060AA06}" sibTransId="{D2687E90-6100-4C61-ADF0-073B79D39BC7}"/>
    <dgm:cxn modelId="{B31231D2-B1F9-4BD4-A07B-79C9AE413640}" srcId="{E89DAD6E-D97E-478D-B9CF-8833861E1ABD}" destId="{917B3C68-8B18-4F26-9C4B-965CB198A9E6}" srcOrd="5" destOrd="0" parTransId="{88A4AB79-0A24-449D-A01E-C1E62A53CF2D}" sibTransId="{74B6A3FF-3A33-4DDE-974F-EE2FCC0D2ED3}"/>
    <dgm:cxn modelId="{5DEF0DDE-B2B1-41E9-B5F0-8B4494F92F43}" type="presOf" srcId="{917B3C68-8B18-4F26-9C4B-965CB198A9E6}" destId="{2B13298B-530E-4511-8E29-2EC1FD6312BC}" srcOrd="0" destOrd="0" presId="urn:microsoft.com/office/officeart/2005/8/layout/vList2"/>
    <dgm:cxn modelId="{945851E6-B6F5-41A5-8078-856087381CBB}" type="presOf" srcId="{E89DAD6E-D97E-478D-B9CF-8833861E1ABD}" destId="{F013FC6A-2E72-4718-8349-64AD8E628D5A}" srcOrd="0" destOrd="0" presId="urn:microsoft.com/office/officeart/2005/8/layout/vList2"/>
    <dgm:cxn modelId="{AA7283EB-9BE2-4E0E-8C81-BC3A2925B9B5}" type="presOf" srcId="{F3F355CC-0CEC-4528-8F58-D64D85C6DCFE}" destId="{9336B632-A53E-4514-8479-046EB6024EF3}" srcOrd="0" destOrd="0" presId="urn:microsoft.com/office/officeart/2005/8/layout/vList2"/>
    <dgm:cxn modelId="{CB6864F0-1652-4467-81AC-AB8279E4E2A8}" type="presOf" srcId="{89190411-7C00-4755-94E5-8420863E455E}" destId="{88018E95-0935-4D0C-9A15-F326535090FD}" srcOrd="0" destOrd="0" presId="urn:microsoft.com/office/officeart/2005/8/layout/vList2"/>
    <dgm:cxn modelId="{BF4E4E65-9120-4D8E-B5AD-279803157FC8}" type="presParOf" srcId="{F013FC6A-2E72-4718-8349-64AD8E628D5A}" destId="{71C78AE7-52B1-4EA3-A477-1CF61F19E460}" srcOrd="0" destOrd="0" presId="urn:microsoft.com/office/officeart/2005/8/layout/vList2"/>
    <dgm:cxn modelId="{2758FA8E-5509-44D5-82D7-92F2BDF31957}" type="presParOf" srcId="{F013FC6A-2E72-4718-8349-64AD8E628D5A}" destId="{5DD73D05-21F3-4BF4-9E85-E3AAE266FA7D}" srcOrd="1" destOrd="0" presId="urn:microsoft.com/office/officeart/2005/8/layout/vList2"/>
    <dgm:cxn modelId="{285A93A5-C8B7-48C5-AE74-7BF13B15005A}" type="presParOf" srcId="{F013FC6A-2E72-4718-8349-64AD8E628D5A}" destId="{88018E95-0935-4D0C-9A15-F326535090FD}" srcOrd="2" destOrd="0" presId="urn:microsoft.com/office/officeart/2005/8/layout/vList2"/>
    <dgm:cxn modelId="{6055CAF7-45F1-45E1-AC44-F1CAC5D85F8D}" type="presParOf" srcId="{F013FC6A-2E72-4718-8349-64AD8E628D5A}" destId="{23CAFA79-8CF2-4394-9675-67825488DB86}" srcOrd="3" destOrd="0" presId="urn:microsoft.com/office/officeart/2005/8/layout/vList2"/>
    <dgm:cxn modelId="{3E04A1B0-6E85-4370-A57D-3AD2AA23440C}" type="presParOf" srcId="{F013FC6A-2E72-4718-8349-64AD8E628D5A}" destId="{08E34E6D-7962-4AA1-BBD2-11E64983AC31}" srcOrd="4" destOrd="0" presId="urn:microsoft.com/office/officeart/2005/8/layout/vList2"/>
    <dgm:cxn modelId="{BA221091-6E7F-477B-8ADB-BE892CB12480}" type="presParOf" srcId="{F013FC6A-2E72-4718-8349-64AD8E628D5A}" destId="{F1414725-A595-43E5-AF71-A621A3E7A0C6}" srcOrd="5" destOrd="0" presId="urn:microsoft.com/office/officeart/2005/8/layout/vList2"/>
    <dgm:cxn modelId="{5A194645-FB65-4941-AA0D-2E85C6F5FD47}" type="presParOf" srcId="{F013FC6A-2E72-4718-8349-64AD8E628D5A}" destId="{93037F9E-5F38-4E45-9A51-FAD24F019C55}" srcOrd="6" destOrd="0" presId="urn:microsoft.com/office/officeart/2005/8/layout/vList2"/>
    <dgm:cxn modelId="{6C1F41B0-9394-4B83-B9BF-62D349C6986A}" type="presParOf" srcId="{F013FC6A-2E72-4718-8349-64AD8E628D5A}" destId="{8DAFC9C5-17EC-4EA6-A0B6-265CF5C9B2B7}" srcOrd="7" destOrd="0" presId="urn:microsoft.com/office/officeart/2005/8/layout/vList2"/>
    <dgm:cxn modelId="{C431E71B-0B70-4163-B399-CF4E08FEF492}" type="presParOf" srcId="{F013FC6A-2E72-4718-8349-64AD8E628D5A}" destId="{9336B632-A53E-4514-8479-046EB6024EF3}" srcOrd="8" destOrd="0" presId="urn:microsoft.com/office/officeart/2005/8/layout/vList2"/>
    <dgm:cxn modelId="{B55B0743-1F44-48D6-89D9-3C31939BDB76}" type="presParOf" srcId="{F013FC6A-2E72-4718-8349-64AD8E628D5A}" destId="{3455CDD0-7890-4758-B5EB-2549AF70B8A5}" srcOrd="9" destOrd="0" presId="urn:microsoft.com/office/officeart/2005/8/layout/vList2"/>
    <dgm:cxn modelId="{53F1E401-52EF-452B-9503-76F5E66CEBB3}" type="presParOf" srcId="{F013FC6A-2E72-4718-8349-64AD8E628D5A}" destId="{2B13298B-530E-4511-8E29-2EC1FD6312B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08460D-312A-4C6D-BD49-94CE47D0F5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207E476B-A0EB-44FC-BC40-B01557FC5965}">
      <dgm:prSet/>
      <dgm:spPr/>
      <dgm:t>
        <a:bodyPr/>
        <a:lstStyle/>
        <a:p>
          <a:r>
            <a:rPr lang="en-US"/>
            <a:t>This analysis revealed patterns in neighborhood performance, pricing strategy, and amenity impact.</a:t>
          </a:r>
        </a:p>
      </dgm:t>
    </dgm:pt>
    <dgm:pt modelId="{5F04800F-8B03-4101-9FA5-0992ED2BE453}" type="parTrans" cxnId="{A4C996B2-C3F5-4463-888F-949ABDBD0F85}">
      <dgm:prSet/>
      <dgm:spPr/>
      <dgm:t>
        <a:bodyPr/>
        <a:lstStyle/>
        <a:p>
          <a:endParaRPr lang="en-US"/>
        </a:p>
      </dgm:t>
    </dgm:pt>
    <dgm:pt modelId="{42E6A64B-B5D7-43D3-8F79-D9294D63DE94}" type="sibTrans" cxnId="{A4C996B2-C3F5-4463-888F-949ABDBD0F85}">
      <dgm:prSet/>
      <dgm:spPr/>
      <dgm:t>
        <a:bodyPr/>
        <a:lstStyle/>
        <a:p>
          <a:endParaRPr lang="en-US"/>
        </a:p>
      </dgm:t>
    </dgm:pt>
    <dgm:pt modelId="{5C064D03-A408-4E11-A191-7569133115B3}">
      <dgm:prSet/>
      <dgm:spPr/>
      <dgm:t>
        <a:bodyPr/>
        <a:lstStyle/>
        <a:p>
          <a:r>
            <a:rPr lang="en-US"/>
            <a:t>Using data-driven decisions, Airbnb can improve both guest experience and host revenue.</a:t>
          </a:r>
        </a:p>
      </dgm:t>
    </dgm:pt>
    <dgm:pt modelId="{134DD716-49F4-45F2-93C5-60FE39C588D9}" type="parTrans" cxnId="{EA1AB1B9-3FB0-4270-8A29-D64A0ECC857E}">
      <dgm:prSet/>
      <dgm:spPr/>
      <dgm:t>
        <a:bodyPr/>
        <a:lstStyle/>
        <a:p>
          <a:endParaRPr lang="en-US"/>
        </a:p>
      </dgm:t>
    </dgm:pt>
    <dgm:pt modelId="{DCF32E78-D731-4725-B65F-5B4F3B1AACB8}" type="sibTrans" cxnId="{EA1AB1B9-3FB0-4270-8A29-D64A0ECC857E}">
      <dgm:prSet/>
      <dgm:spPr/>
      <dgm:t>
        <a:bodyPr/>
        <a:lstStyle/>
        <a:p>
          <a:endParaRPr lang="en-US"/>
        </a:p>
      </dgm:t>
    </dgm:pt>
    <dgm:pt modelId="{B8E98D0A-3F6D-4464-A1F4-8AB4C2C41878}" type="pres">
      <dgm:prSet presAssocID="{7508460D-312A-4C6D-BD49-94CE47D0F584}" presName="root" presStyleCnt="0">
        <dgm:presLayoutVars>
          <dgm:dir/>
          <dgm:resizeHandles val="exact"/>
        </dgm:presLayoutVars>
      </dgm:prSet>
      <dgm:spPr/>
    </dgm:pt>
    <dgm:pt modelId="{B7420012-3849-46B8-ACA9-30D98400B06E}" type="pres">
      <dgm:prSet presAssocID="{207E476B-A0EB-44FC-BC40-B01557FC5965}" presName="compNode" presStyleCnt="0"/>
      <dgm:spPr/>
    </dgm:pt>
    <dgm:pt modelId="{36A89DCC-78DF-4E80-A5F9-D6DDF183F43E}" type="pres">
      <dgm:prSet presAssocID="{207E476B-A0EB-44FC-BC40-B01557FC5965}" presName="bgRect" presStyleLbl="bgShp" presStyleIdx="0" presStyleCnt="2"/>
      <dgm:spPr/>
    </dgm:pt>
    <dgm:pt modelId="{BD4E977D-2104-403A-AAF5-ECD9D6C8C916}" type="pres">
      <dgm:prSet presAssocID="{207E476B-A0EB-44FC-BC40-B01557FC596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AC6583D-43C6-4892-83FD-CE17E4A525C6}" type="pres">
      <dgm:prSet presAssocID="{207E476B-A0EB-44FC-BC40-B01557FC5965}" presName="spaceRect" presStyleCnt="0"/>
      <dgm:spPr/>
    </dgm:pt>
    <dgm:pt modelId="{0050D876-51DA-417F-8FFD-2310C005D7AF}" type="pres">
      <dgm:prSet presAssocID="{207E476B-A0EB-44FC-BC40-B01557FC5965}" presName="parTx" presStyleLbl="revTx" presStyleIdx="0" presStyleCnt="2">
        <dgm:presLayoutVars>
          <dgm:chMax val="0"/>
          <dgm:chPref val="0"/>
        </dgm:presLayoutVars>
      </dgm:prSet>
      <dgm:spPr/>
    </dgm:pt>
    <dgm:pt modelId="{F51FA6DD-42D0-4C93-8BC9-8FC729183B48}" type="pres">
      <dgm:prSet presAssocID="{42E6A64B-B5D7-43D3-8F79-D9294D63DE94}" presName="sibTrans" presStyleCnt="0"/>
      <dgm:spPr/>
    </dgm:pt>
    <dgm:pt modelId="{9E3BBF2B-E43A-4EDD-B5B9-7A7C7DA51ECC}" type="pres">
      <dgm:prSet presAssocID="{5C064D03-A408-4E11-A191-7569133115B3}" presName="compNode" presStyleCnt="0"/>
      <dgm:spPr/>
    </dgm:pt>
    <dgm:pt modelId="{C6B9AB43-6891-4858-863B-5BAA49DAA7E4}" type="pres">
      <dgm:prSet presAssocID="{5C064D03-A408-4E11-A191-7569133115B3}" presName="bgRect" presStyleLbl="bgShp" presStyleIdx="1" presStyleCnt="2"/>
      <dgm:spPr/>
    </dgm:pt>
    <dgm:pt modelId="{31B15401-2865-4E43-9604-BB1173801EEB}" type="pres">
      <dgm:prSet presAssocID="{5C064D03-A408-4E11-A191-7569133115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8CB1BB1-AAE5-4D1D-9EC4-7F1DA60B3319}" type="pres">
      <dgm:prSet presAssocID="{5C064D03-A408-4E11-A191-7569133115B3}" presName="spaceRect" presStyleCnt="0"/>
      <dgm:spPr/>
    </dgm:pt>
    <dgm:pt modelId="{8761075C-F80B-4946-AD45-C237704F9C20}" type="pres">
      <dgm:prSet presAssocID="{5C064D03-A408-4E11-A191-7569133115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26C6944-ACA3-413D-9140-ED7FD9D28CE2}" type="presOf" srcId="{5C064D03-A408-4E11-A191-7569133115B3}" destId="{8761075C-F80B-4946-AD45-C237704F9C20}" srcOrd="0" destOrd="0" presId="urn:microsoft.com/office/officeart/2018/2/layout/IconVerticalSolidList"/>
    <dgm:cxn modelId="{1F980D8C-923D-4586-9165-66176548C778}" type="presOf" srcId="{207E476B-A0EB-44FC-BC40-B01557FC5965}" destId="{0050D876-51DA-417F-8FFD-2310C005D7AF}" srcOrd="0" destOrd="0" presId="urn:microsoft.com/office/officeart/2018/2/layout/IconVerticalSolidList"/>
    <dgm:cxn modelId="{A4C996B2-C3F5-4463-888F-949ABDBD0F85}" srcId="{7508460D-312A-4C6D-BD49-94CE47D0F584}" destId="{207E476B-A0EB-44FC-BC40-B01557FC5965}" srcOrd="0" destOrd="0" parTransId="{5F04800F-8B03-4101-9FA5-0992ED2BE453}" sibTransId="{42E6A64B-B5D7-43D3-8F79-D9294D63DE94}"/>
    <dgm:cxn modelId="{EA1AB1B9-3FB0-4270-8A29-D64A0ECC857E}" srcId="{7508460D-312A-4C6D-BD49-94CE47D0F584}" destId="{5C064D03-A408-4E11-A191-7569133115B3}" srcOrd="1" destOrd="0" parTransId="{134DD716-49F4-45F2-93C5-60FE39C588D9}" sibTransId="{DCF32E78-D731-4725-B65F-5B4F3B1AACB8}"/>
    <dgm:cxn modelId="{AA7771CB-120B-4C3B-AD98-314BEDB2E236}" type="presOf" srcId="{7508460D-312A-4C6D-BD49-94CE47D0F584}" destId="{B8E98D0A-3F6D-4464-A1F4-8AB4C2C41878}" srcOrd="0" destOrd="0" presId="urn:microsoft.com/office/officeart/2018/2/layout/IconVerticalSolidList"/>
    <dgm:cxn modelId="{76E8626D-2BE1-4E3B-A0EC-CAFF0FAFDE2C}" type="presParOf" srcId="{B8E98D0A-3F6D-4464-A1F4-8AB4C2C41878}" destId="{B7420012-3849-46B8-ACA9-30D98400B06E}" srcOrd="0" destOrd="0" presId="urn:microsoft.com/office/officeart/2018/2/layout/IconVerticalSolidList"/>
    <dgm:cxn modelId="{E86F40DD-0670-4B8C-A89C-8E0F54771C3B}" type="presParOf" srcId="{B7420012-3849-46B8-ACA9-30D98400B06E}" destId="{36A89DCC-78DF-4E80-A5F9-D6DDF183F43E}" srcOrd="0" destOrd="0" presId="urn:microsoft.com/office/officeart/2018/2/layout/IconVerticalSolidList"/>
    <dgm:cxn modelId="{66EC8969-8878-4842-95D4-19244C3A842C}" type="presParOf" srcId="{B7420012-3849-46B8-ACA9-30D98400B06E}" destId="{BD4E977D-2104-403A-AAF5-ECD9D6C8C916}" srcOrd="1" destOrd="0" presId="urn:microsoft.com/office/officeart/2018/2/layout/IconVerticalSolidList"/>
    <dgm:cxn modelId="{C36A4480-05F9-4A5A-BF17-AD2A1AA0BDC0}" type="presParOf" srcId="{B7420012-3849-46B8-ACA9-30D98400B06E}" destId="{3AC6583D-43C6-4892-83FD-CE17E4A525C6}" srcOrd="2" destOrd="0" presId="urn:microsoft.com/office/officeart/2018/2/layout/IconVerticalSolidList"/>
    <dgm:cxn modelId="{0D8F0EE9-263F-436E-B85C-C11DDC383D80}" type="presParOf" srcId="{B7420012-3849-46B8-ACA9-30D98400B06E}" destId="{0050D876-51DA-417F-8FFD-2310C005D7AF}" srcOrd="3" destOrd="0" presId="urn:microsoft.com/office/officeart/2018/2/layout/IconVerticalSolidList"/>
    <dgm:cxn modelId="{87E45946-04DF-4E1C-AA9E-974C43474BA3}" type="presParOf" srcId="{B8E98D0A-3F6D-4464-A1F4-8AB4C2C41878}" destId="{F51FA6DD-42D0-4C93-8BC9-8FC729183B48}" srcOrd="1" destOrd="0" presId="urn:microsoft.com/office/officeart/2018/2/layout/IconVerticalSolidList"/>
    <dgm:cxn modelId="{13D1654B-90C3-4F37-ACDE-88B0DF08D818}" type="presParOf" srcId="{B8E98D0A-3F6D-4464-A1F4-8AB4C2C41878}" destId="{9E3BBF2B-E43A-4EDD-B5B9-7A7C7DA51ECC}" srcOrd="2" destOrd="0" presId="urn:microsoft.com/office/officeart/2018/2/layout/IconVerticalSolidList"/>
    <dgm:cxn modelId="{F1DF401D-22AA-47BD-BD38-592E8327DB8F}" type="presParOf" srcId="{9E3BBF2B-E43A-4EDD-B5B9-7A7C7DA51ECC}" destId="{C6B9AB43-6891-4858-863B-5BAA49DAA7E4}" srcOrd="0" destOrd="0" presId="urn:microsoft.com/office/officeart/2018/2/layout/IconVerticalSolidList"/>
    <dgm:cxn modelId="{DE80FAD4-8189-4603-8C16-86F1CE7D95DF}" type="presParOf" srcId="{9E3BBF2B-E43A-4EDD-B5B9-7A7C7DA51ECC}" destId="{31B15401-2865-4E43-9604-BB1173801EEB}" srcOrd="1" destOrd="0" presId="urn:microsoft.com/office/officeart/2018/2/layout/IconVerticalSolidList"/>
    <dgm:cxn modelId="{60D3C4D8-6DF7-470F-BCA7-A995C247EC73}" type="presParOf" srcId="{9E3BBF2B-E43A-4EDD-B5B9-7A7C7DA51ECC}" destId="{68CB1BB1-AAE5-4D1D-9EC4-7F1DA60B3319}" srcOrd="2" destOrd="0" presId="urn:microsoft.com/office/officeart/2018/2/layout/IconVerticalSolidList"/>
    <dgm:cxn modelId="{54870CDB-0C6E-4E55-9426-DD654EFDE152}" type="presParOf" srcId="{9E3BBF2B-E43A-4EDD-B5B9-7A7C7DA51ECC}" destId="{8761075C-F80B-4946-AD45-C237704F9C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78AE7-52B1-4EA3-A477-1CF61F19E460}">
      <dsp:nvSpPr>
        <dsp:cNvPr id="0" name=""/>
        <dsp:cNvSpPr/>
      </dsp:nvSpPr>
      <dsp:spPr>
        <a:xfrm>
          <a:off x="0" y="318428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Dataset: Airbnb Amsterdam from Kaggle</a:t>
          </a:r>
        </a:p>
      </dsp:txBody>
      <dsp:txXfrm>
        <a:off x="27644" y="346072"/>
        <a:ext cx="10460312" cy="510992"/>
      </dsp:txXfrm>
    </dsp:sp>
    <dsp:sp modelId="{88018E95-0935-4D0C-9A15-F326535090FD}">
      <dsp:nvSpPr>
        <dsp:cNvPr id="0" name=""/>
        <dsp:cNvSpPr/>
      </dsp:nvSpPr>
      <dsp:spPr>
        <a:xfrm>
          <a:off x="0" y="948068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6,173 rows of listings Features: price, location, amenities, reviews, availability, etc.</a:t>
          </a:r>
        </a:p>
      </dsp:txBody>
      <dsp:txXfrm>
        <a:off x="27644" y="975712"/>
        <a:ext cx="10460312" cy="510992"/>
      </dsp:txXfrm>
    </dsp:sp>
    <dsp:sp modelId="{08E34E6D-7962-4AA1-BBD2-11E64983AC31}">
      <dsp:nvSpPr>
        <dsp:cNvPr id="0" name=""/>
        <dsp:cNvSpPr/>
      </dsp:nvSpPr>
      <dsp:spPr>
        <a:xfrm>
          <a:off x="0" y="1577708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Tools Used:</a:t>
          </a:r>
        </a:p>
      </dsp:txBody>
      <dsp:txXfrm>
        <a:off x="27644" y="1605352"/>
        <a:ext cx="10460312" cy="510992"/>
      </dsp:txXfrm>
    </dsp:sp>
    <dsp:sp modelId="{93037F9E-5F38-4E45-9A51-FAD24F019C55}">
      <dsp:nvSpPr>
        <dsp:cNvPr id="0" name=""/>
        <dsp:cNvSpPr/>
      </dsp:nvSpPr>
      <dsp:spPr>
        <a:xfrm>
          <a:off x="0" y="2207349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Python → for cleaning preprocessing</a:t>
          </a:r>
        </a:p>
      </dsp:txBody>
      <dsp:txXfrm>
        <a:off x="27644" y="2234993"/>
        <a:ext cx="10460312" cy="510992"/>
      </dsp:txXfrm>
    </dsp:sp>
    <dsp:sp modelId="{9336B632-A53E-4514-8479-046EB6024EF3}">
      <dsp:nvSpPr>
        <dsp:cNvPr id="0" name=""/>
        <dsp:cNvSpPr/>
      </dsp:nvSpPr>
      <dsp:spPr>
        <a:xfrm>
          <a:off x="0" y="2836989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SQL → for data exploration </a:t>
          </a:r>
        </a:p>
      </dsp:txBody>
      <dsp:txXfrm>
        <a:off x="27644" y="2864633"/>
        <a:ext cx="10460312" cy="510992"/>
      </dsp:txXfrm>
    </dsp:sp>
    <dsp:sp modelId="{2B13298B-530E-4511-8E29-2EC1FD6312BC}">
      <dsp:nvSpPr>
        <dsp:cNvPr id="0" name=""/>
        <dsp:cNvSpPr/>
      </dsp:nvSpPr>
      <dsp:spPr>
        <a:xfrm>
          <a:off x="0" y="3466629"/>
          <a:ext cx="105156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Power BI → for dashboards</a:t>
          </a:r>
        </a:p>
      </dsp:txBody>
      <dsp:txXfrm>
        <a:off x="27644" y="3494273"/>
        <a:ext cx="10460312" cy="5109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89DCC-78DF-4E80-A5F9-D6DDF183F43E}">
      <dsp:nvSpPr>
        <dsp:cNvPr id="0" name=""/>
        <dsp:cNvSpPr/>
      </dsp:nvSpPr>
      <dsp:spPr>
        <a:xfrm>
          <a:off x="0" y="707288"/>
          <a:ext cx="10515600" cy="130576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E977D-2104-403A-AAF5-ECD9D6C8C916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0D876-51DA-417F-8FFD-2310C005D7AF}">
      <dsp:nvSpPr>
        <dsp:cNvPr id="0" name=""/>
        <dsp:cNvSpPr/>
      </dsp:nvSpPr>
      <dsp:spPr>
        <a:xfrm>
          <a:off x="1508156" y="707288"/>
          <a:ext cx="9007443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analysis revealed patterns in neighborhood performance, pricing strategy, and amenity impact.</a:t>
          </a:r>
        </a:p>
      </dsp:txBody>
      <dsp:txXfrm>
        <a:off x="1508156" y="707288"/>
        <a:ext cx="9007443" cy="1305763"/>
      </dsp:txXfrm>
    </dsp:sp>
    <dsp:sp modelId="{C6B9AB43-6891-4858-863B-5BAA49DAA7E4}">
      <dsp:nvSpPr>
        <dsp:cNvPr id="0" name=""/>
        <dsp:cNvSpPr/>
      </dsp:nvSpPr>
      <dsp:spPr>
        <a:xfrm>
          <a:off x="0" y="2339492"/>
          <a:ext cx="10515600" cy="130576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15401-2865-4E43-9604-BB1173801EE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1075C-F80B-4946-AD45-C237704F9C20}">
      <dsp:nvSpPr>
        <dsp:cNvPr id="0" name=""/>
        <dsp:cNvSpPr/>
      </dsp:nvSpPr>
      <dsp:spPr>
        <a:xfrm>
          <a:off x="1508156" y="2339492"/>
          <a:ext cx="9007443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Using data-driven decisions, Airbnb can improve both guest experience and host revenue.</a:t>
          </a:r>
        </a:p>
      </dsp:txBody>
      <dsp:txXfrm>
        <a:off x="1508156" y="2339492"/>
        <a:ext cx="9007443" cy="1305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F207-5389-77EC-D109-396526E69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41911-88D9-7AB2-F835-804733B85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212AF-7BC6-1789-5EA1-58CE3DD9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D2276-3606-C577-42ED-65A5AFC8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71124-4D5E-8EA3-43E7-9869B19C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3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4586-2BAF-6DD0-24F9-13C39FA3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58F2-8B30-01A5-68F6-AC8F7AB29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8EED-8EE3-1BC4-59EA-8E2747EE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B842D-7C7F-FB47-46EE-86C4C93E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A5AC-1140-76FB-274E-176BD487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3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80D2-B5D1-5DE9-F149-2EC7F9690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D1B5D-82E7-917E-D985-B7E06F5B3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A8B4-539D-3D2E-1FCE-D8D9145C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9A288-C604-4DE4-D3DB-5B3658B2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F6FF-8F89-E385-6B46-E3376A22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2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E748-2BFE-72F5-C2C8-0204037C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9E3A-18DC-BDCB-EC3F-7DFF951EE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9D083-97DE-DF23-AD1F-341EE73F4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0B6FB-6CFB-1558-8534-0D42FE01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EF6A6-4BED-5C3E-3E89-6D9BF9D3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05335-FA32-9B23-E43B-4350FF94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BF14-064F-AE88-670C-E5D29CFC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3C9D-F4B3-77AE-E361-0AAD045BB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4804A-2A82-F0E8-1545-04E3F3B10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5AE1B-F810-02E0-CD2E-AA760146C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A17E4-6C80-D1CE-6F27-0C6077342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39D3A-613A-BBC7-0A43-A5C4AA37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069F0-09BA-9581-EE1B-BA4475DB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3AFD1-1590-1A7D-BE9F-7BD0FC74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3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7595-759F-4B92-68E3-26F59DA1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49AB8-777C-CBEB-386F-DD49771C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A0DD2-16C5-58C8-45D1-82281666A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075F1-2095-67EF-FC1E-2490A41D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2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91D58-9457-5D76-C332-D5AEA8EE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F5AAA-E085-DE21-6F27-8AC7EDA4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3D65A-D8D7-8E0C-DDB7-6E8102E9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4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B1C9-37BD-2D8C-AB67-794D179D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897FE-A1E7-C893-168C-821128098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A123F-99A3-84AA-FFA3-9F318A627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AA718-F63A-5803-0FA6-E1D3363E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8BB44-33ED-BE25-F4AC-1340862B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52D22-9650-857A-CF20-6654D671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2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0367-FEC8-05FA-B8CC-136F7635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E21F7-F17E-A823-A28C-9879F92AC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AD749-08C0-2475-A33D-5C6258BBE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074B7-B35E-9526-2CDC-4C8A88DD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01B21-B6CB-2203-C4EF-0E5CD102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67C72-893F-E76F-1B6B-4E342657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5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0D17-8EC3-9E6C-739C-A479D570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ECB94-CFE8-0A77-CA1E-8E3FA852A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A0BF1-23FC-A1E0-C1F5-1ABD19A1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2306-19B6-EA7E-939B-9AE6C9DA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F673-9168-02EF-7D8F-1AEFCB86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4BA1B-342A-A8A4-66C5-98DAF0760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E7813-7288-F649-354C-BF999835F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62140-5D87-C651-A364-EF3A1651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44A63-7241-9C65-7327-E986C00D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13CF-1942-A385-6050-0D879150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6F6CB-647F-5325-2997-195D81F0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E9592-413E-4E0B-2405-11A4E9E07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CF14B-F6C8-4259-C125-6B7C8DD3A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BD679-9CE6-4C21-B6A2-FBFBF614D3C6}" type="datetimeFigureOut">
              <a:rPr lang="en-US" smtClean="0"/>
              <a:t>2025-07-25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B7463-CB1D-8F50-509E-CE7054AD3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8988-EE7B-4037-7EFE-9365899EB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71FDC-40F8-4487-81D6-80377099D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5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AF153-AA77-E5C8-CAC3-BB302427B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36390"/>
            <a:ext cx="6155988" cy="11829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Airbnb Amsterdam Analysis</a:t>
            </a:r>
            <a:b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091FBE9-1796-F0FC-A19D-1B9F0BC7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776" y="2829330"/>
            <a:ext cx="6190412" cy="3344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By/ Nada Said Taha Beshir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Supervised by: Eng/ Donia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Ghars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El-Din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Powered by: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Ministry of Communications and Information Technology (NTI)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 Analysis For Freelancing Program</a:t>
            </a:r>
          </a:p>
        </p:txBody>
      </p:sp>
      <p:pic>
        <p:nvPicPr>
          <p:cNvPr id="25" name="Graphic 24" descr="Airplane">
            <a:extLst>
              <a:ext uri="{FF2B5EF4-FFF2-40B4-BE49-F238E27FC236}">
                <a16:creationId xmlns:a16="http://schemas.microsoft.com/office/drawing/2014/main" id="{EF333121-297C-49BA-0D66-7330783D9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5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4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3842E-517A-904F-016B-A862FAA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Problem Statement: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40C7FC-7EB2-9F06-1BD0-29F5D9BCF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How can Airbnb improve guest experience and revenue by analyzing neighborhood activity, pricing trends, and amenities?</a:t>
            </a:r>
          </a:p>
          <a:p>
            <a:r>
              <a:rPr lang="en-US" sz="2200" b="1"/>
              <a:t>Objective:</a:t>
            </a:r>
            <a:endParaRPr lang="en-US" sz="2200"/>
          </a:p>
          <a:p>
            <a:r>
              <a:rPr lang="en-US" sz="2200"/>
              <a:t>Identify the most active neighborhoods and pricing behavior</a:t>
            </a:r>
          </a:p>
          <a:p>
            <a:r>
              <a:rPr lang="en-US" sz="2200"/>
              <a:t>Analyze how property amenities affect pricing and customer engagement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75651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2B4D-6C70-D6AC-729D-7A7A002A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&amp; Tools</a:t>
            </a:r>
            <a:endParaRPr lang="en-US" dirty="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833471C6-D48D-A2AD-5DB8-D468806D5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425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391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72E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E3502-E026-3F48-AB73-DC59D951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 Business 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E14975-7B97-1083-347D-0F09D8AE0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023170"/>
            <a:ext cx="7347537" cy="481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3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A5162-AEB6-10CF-7127-99164741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237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9FCE7-8B8C-F8DA-25EA-F329121E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 Business Questions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B9F9E2-160A-CA88-85DE-90D95245B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45652"/>
            <a:ext cx="7347537" cy="396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3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D242C-F54E-C8A8-1B21-5DF22343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43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E76D2-DFA3-C88E-CA47-17EC4348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 Business Questions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65E01F-2CBB-13E4-6701-CF86FB485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519129"/>
            <a:ext cx="7347537" cy="38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5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B5564-8049-7A5C-6DFF-08EBE7D6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F3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C4B45-FC1B-9A9C-3FCF-389BB46D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 Business Questions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0620D0-33A7-0008-80B4-6B4543C52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757923"/>
            <a:ext cx="7347537" cy="33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7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290C6-1212-2ED3-1DAE-FDC10B34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Document 2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43A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15DEC-5243-F2CB-6694-000FCFDF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 Business Questions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C8AF14-BA1F-9937-70BD-D39EF923A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958878"/>
            <a:ext cx="7347537" cy="49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5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0B811-CF80-83D5-A7B1-BEC122CA8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Dashboard Page 1 – Market Activity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2106EBB-C36F-B8B1-6A13-52B37C30876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635" r="3638" b="3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969BA-77EC-F139-549B-7B5FC9214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Insights: Some neighborhoods have a high number of listings, but lower average prices, Popular areas (like Centrum-West) are not always the most expensive No direct correlation between number of listings and high prices.</a:t>
            </a:r>
          </a:p>
        </p:txBody>
      </p:sp>
    </p:spTree>
    <p:extLst>
      <p:ext uri="{BB962C8B-B14F-4D97-AF65-F5344CB8AC3E}">
        <p14:creationId xmlns:p14="http://schemas.microsoft.com/office/powerpoint/2010/main" val="283119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410BE-421B-0852-CB01-11D9A6B0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Page 2 – Amenities Impact</a:t>
            </a:r>
          </a:p>
        </p:txBody>
      </p:sp>
      <p:sp>
        <p:nvSpPr>
          <p:cNvPr id="6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graph and chart&#10;&#10;AI-generated content may be incorrect.">
            <a:extLst>
              <a:ext uri="{FF2B5EF4-FFF2-40B4-BE49-F238E27FC236}">
                <a16:creationId xmlns:a16="http://schemas.microsoft.com/office/drawing/2014/main" id="{13CC3BCE-CCA7-C1D1-B357-19197A5FAB4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995" r="12995"/>
          <a:stretch/>
        </p:blipFill>
        <p:spPr>
          <a:xfrm>
            <a:off x="4654296" y="630936"/>
            <a:ext cx="4951246" cy="391363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99D0A-4A8E-2F00-58B3-AB97FAFA6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Insights: Listings with more than 40 amenities tend to charge the highest prices Listings with 25–40 amenities get the most reviews → users value good balance between price and comfort Amenities clearly influence guest satisfaction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376303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0D18C-21F6-4EDF-A97B-A288E6B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Key Business Problem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96EC-D1C4-0B7A-F3B2-BB343F7B3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Some areas have many listings but lower engagement or fewer amenities, which may lead to fewer bookings and lower satisfaction.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5716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8D029-096E-916D-3AC4-F613A206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Business Recommendations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458B-5846-A65F-F985-F5A5D4B21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For Airbnb:</a:t>
            </a:r>
          </a:p>
          <a:p>
            <a:r>
              <a:rPr lang="en-US" sz="1500" dirty="0"/>
              <a:t>Upgrade amenities in popular but underpriced neighborhoods.</a:t>
            </a:r>
          </a:p>
          <a:p>
            <a:r>
              <a:rPr lang="en-US" sz="1500" dirty="0"/>
              <a:t>Encourage hosts to add more high-impact amenities (e.g., Wi-Fi, kitchen tools).</a:t>
            </a:r>
          </a:p>
          <a:p>
            <a:r>
              <a:rPr lang="en-US" sz="1500" dirty="0"/>
              <a:t>Promote listings with balanced price and features to improve reviews and bookings.</a:t>
            </a:r>
          </a:p>
          <a:p>
            <a:pPr marL="0" indent="0">
              <a:buNone/>
            </a:pPr>
            <a:r>
              <a:rPr lang="en-US" sz="1500" b="1" dirty="0"/>
              <a:t>For Hosts:</a:t>
            </a:r>
          </a:p>
          <a:p>
            <a:r>
              <a:rPr lang="en-US" sz="1500" dirty="0"/>
              <a:t>Add Basic Amenities: Things like wireless chargers, kitchen tools, or good Wi-Fi are cost-effective (5–10 essential amenities).</a:t>
            </a:r>
          </a:p>
          <a:p>
            <a:r>
              <a:rPr lang="en-US" sz="1500" dirty="0"/>
              <a:t>In Upscale Neighborhoods (like De </a:t>
            </a:r>
            <a:r>
              <a:rPr lang="en-US" sz="1500" dirty="0" err="1"/>
              <a:t>Pijp</a:t>
            </a:r>
            <a:r>
              <a:rPr lang="en-US" sz="1500" dirty="0"/>
              <a:t>):</a:t>
            </a:r>
          </a:p>
          <a:p>
            <a:r>
              <a:rPr lang="en-US" sz="1500" dirty="0"/>
              <a:t>Avoid Luxurious Upgrades Unless Justified: High-end features like a jacuzzi should be used only if the listing matches the neighborhood’s luxury standards.</a:t>
            </a:r>
          </a:p>
          <a:p>
            <a:r>
              <a:rPr lang="en-US" sz="1500" dirty="0"/>
              <a:t>If your apartment is in a luxury area, guests may expect premium amenities but adding them to a basic listing could backfire.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42972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F6684-49EA-8B29-B1AD-A82B017C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2500"/>
              <a:t>Conclusion</a:t>
            </a:r>
            <a:br>
              <a:rPr lang="en-US" sz="2500"/>
            </a:br>
            <a:r>
              <a:rPr lang="en-US" sz="2500"/>
              <a:t>“From data to delight – it’s not just about numbers. It’s about experiences.”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D4B7F9-1571-2EB9-383B-CDBEC8EE1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4145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8803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0B372-60A1-53CC-7E5B-6CE006791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5600"/>
              <a:t>“Happy Customer, Happy Company”</a:t>
            </a:r>
            <a:br>
              <a:rPr lang="en-US" sz="5600"/>
            </a:br>
            <a:r>
              <a:rPr lang="en-US" sz="5600"/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33F9D2B7-E006-0E85-A013-C2E39815C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700" y="591670"/>
            <a:ext cx="2742004" cy="2742004"/>
          </a:xfrm>
          <a:prstGeom prst="rect">
            <a:avLst/>
          </a:prstGeom>
        </p:spPr>
      </p:pic>
      <p:sp>
        <p:nvSpPr>
          <p:cNvPr id="37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7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151E6B913AAE4FA9258FEE2B02DF34" ma:contentTypeVersion="6" ma:contentTypeDescription="Create a new document." ma:contentTypeScope="" ma:versionID="bb7d14e7d2070427a5bab065fd582a82">
  <xsd:schema xmlns:xsd="http://www.w3.org/2001/XMLSchema" xmlns:xs="http://www.w3.org/2001/XMLSchema" xmlns:p="http://schemas.microsoft.com/office/2006/metadata/properties" xmlns:ns3="1c557fc9-c665-4b97-a9de-c2a8caec4393" targetNamespace="http://schemas.microsoft.com/office/2006/metadata/properties" ma:root="true" ma:fieldsID="dc5ee74df3b6a6dd79e7f6dca1b5a5d3" ns3:_="">
    <xsd:import namespace="1c557fc9-c665-4b97-a9de-c2a8caec43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57fc9-c665-4b97-a9de-c2a8caec4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557fc9-c665-4b97-a9de-c2a8caec4393" xsi:nil="true"/>
  </documentManagement>
</p:properties>
</file>

<file path=customXml/itemProps1.xml><?xml version="1.0" encoding="utf-8"?>
<ds:datastoreItem xmlns:ds="http://schemas.openxmlformats.org/officeDocument/2006/customXml" ds:itemID="{3156650F-1A4C-4343-A5B3-D13C87B420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8CEB6E-E5C5-40C0-B3EA-35B2D27244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557fc9-c665-4b97-a9de-c2a8caec43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12B7B3-01D5-40B1-8AF4-5814B750E574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1c557fc9-c665-4b97-a9de-c2a8caec439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437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Airbnb Amsterdam Analysis </vt:lpstr>
      <vt:lpstr>Problem Statement:</vt:lpstr>
      <vt:lpstr>Dataset &amp; Tools</vt:lpstr>
      <vt:lpstr>SQL for Business Questions</vt:lpstr>
      <vt:lpstr>SQL for Business Questions</vt:lpstr>
      <vt:lpstr>SQL for Business Questions</vt:lpstr>
      <vt:lpstr>SQL for Business Questions</vt:lpstr>
      <vt:lpstr>SQL for Business Questions</vt:lpstr>
      <vt:lpstr>Dashboard Page 1 – Market Activity</vt:lpstr>
      <vt:lpstr>Dashboard Page 2 – Amenities Impact</vt:lpstr>
      <vt:lpstr>Key Business Problem</vt:lpstr>
      <vt:lpstr>Business Recommendations</vt:lpstr>
      <vt:lpstr>Conclusion “From data to delight – it’s not just about numbers. It’s about experiences.”</vt:lpstr>
      <vt:lpstr>“Happy Customer, Happy Company”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Nada Said Taha Beshir</dc:creator>
  <cp:lastModifiedBy>Nada Said Taha Beshir</cp:lastModifiedBy>
  <cp:revision>17</cp:revision>
  <dcterms:created xsi:type="dcterms:W3CDTF">2025-07-25T00:57:20Z</dcterms:created>
  <dcterms:modified xsi:type="dcterms:W3CDTF">2025-07-25T11:03:50Z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0x010100BE151E6B913AAE4FA9258FEE2B02DF34</vt:lpwstr>
  </property>
</Properties>
</file>